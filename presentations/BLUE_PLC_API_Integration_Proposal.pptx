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Montserrat"/>
              </a:defRPr>
            </a:pPr>
            <a:r>
              <a:t>BLUE × PLC API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BFFF"/>
                </a:solidFill>
                <a:latin typeface="Montserrat"/>
              </a:defRPr>
            </a:pPr>
            <a:r>
              <a:t>Giving BLUE Eyes on the Fleet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749039"/>
            <a:ext cx="210312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4F6"/>
                </a:solidFill>
                <a:latin typeface="Avenir"/>
              </a:defRPr>
            </a:pPr>
            <a:r>
              <a:t>Blue Frontier  |  Distech ECY-600 PLC Integration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Avenir"/>
              </a:defRPr>
            </a:pPr>
            <a:r>
              <a:t>February 2026</a:t>
            </a:r>
          </a:p>
        </p:txBody>
      </p:sp>
      <p:pic>
        <p:nvPicPr>
          <p:cNvPr id="8" name="Picture 7" descr="BF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5303520"/>
            <a:ext cx="2651760" cy="9029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The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2937"/>
                </a:solidFill>
                <a:latin typeface="Avenir"/>
              </a:defRPr>
            </a:pPr>
            <a:r>
              <a:t>BLUE is a brilliant consultant that needs to be fed data manually.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E3A8A"/>
                </a:solidFill>
                <a:latin typeface="Montserrat"/>
              </a:defRPr>
            </a:pPr>
            <a:r>
              <a:t>With PLC API access, BLUE becomes an autonomous fleet management system that never sleeps.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029200" cy="292608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C2626"/>
                </a:solidFill>
                <a:latin typeface="Montserrat"/>
              </a:defRPr>
            </a:pPr>
            <a:r>
              <a:t>Without API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457200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Requires manual data uploads to analyze issues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Cannot verify what the controller is actually doing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Reactive — responds only after problems are reported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No real-time visibility into deployed fleet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Troubleshooting relies on technician-provided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91840"/>
            <a:ext cx="5029200" cy="2926080"/>
          </a:xfrm>
          <a:prstGeom prst="roundRect">
            <a:avLst/>
          </a:prstGeom>
          <a:solidFill>
            <a:srgbClr val="EFF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4290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B981"/>
                </a:solidFill>
                <a:latin typeface="Montserrat"/>
              </a:defRPr>
            </a:pPr>
            <a:r>
              <a:t>With API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931920"/>
            <a:ext cx="457200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Queries PLCs directly for live data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Verifies actual vs. expected controller behavior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Proactive — detects issues before they escalate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24/7 autonomous fleet monitoring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Guides techs with real-time, data-backed 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What BLUE Can Do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3A8A"/>
                </a:solidFill>
                <a:latin typeface="Montserrat"/>
              </a:defRPr>
            </a:pPr>
            <a:r>
              <a:t>EC-GFX Mastery Skill — Expert-Level PLC Understanding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060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</a:defRPr>
            </a:pPr>
            <a:r>
              <a:t>LB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2057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Logic Blocks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057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1F2937"/>
                </a:solidFill>
                <a:latin typeface="Avenir"/>
              </a:defRPr>
            </a:pPr>
            <a:r>
              <a:t>•  Interpret and troubleshoot</a:t>
            </a:r>
          </a:p>
          <a:p>
            <a:pPr algn="l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1F2937"/>
                </a:solidFill>
                <a:latin typeface="Avenir"/>
              </a:defRPr>
            </a:pPr>
            <a:r>
              <a:t>•  all EC-GFX logic blocks</a:t>
            </a:r>
          </a:p>
          <a:p>
            <a:pPr algn="l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1F2937"/>
                </a:solidFill>
                <a:latin typeface="Avenir"/>
              </a:defRPr>
            </a:pPr>
            <a:r>
              <a:t>•  including custom sequences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11680"/>
            <a:ext cx="26060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03320" y="2286000"/>
            <a:ext cx="640080" cy="64008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</a:defRPr>
            </a:pPr>
            <a:r>
              <a:t>PID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63240"/>
            <a:ext cx="2057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Control Loops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29000"/>
            <a:ext cx="2057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1F2937"/>
                </a:solidFill>
                <a:latin typeface="Avenir"/>
              </a:defRPr>
            </a:pPr>
            <a:r>
              <a:t>•  Analyze PID loops,</a:t>
            </a:r>
          </a:p>
          <a:p>
            <a:pPr algn="l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1F2937"/>
                </a:solidFill>
                <a:latin typeface="Avenir"/>
              </a:defRPr>
            </a:pPr>
            <a:r>
              <a:t>•  control sequences,</a:t>
            </a:r>
          </a:p>
          <a:p>
            <a:pPr algn="l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1F2937"/>
                </a:solidFill>
                <a:latin typeface="Avenir"/>
              </a:defRPr>
            </a:pPr>
            <a:r>
              <a:t>•  and state machines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011680"/>
            <a:ext cx="26060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79" y="2286000"/>
            <a:ext cx="640080" cy="64008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</a:defRPr>
            </a:pPr>
            <a:r>
              <a:t>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3063240"/>
            <a:ext cx="2057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Alarm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429000"/>
            <a:ext cx="2057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1F2937"/>
                </a:solidFill>
                <a:latin typeface="Avenir"/>
              </a:defRPr>
            </a:pPr>
            <a:r>
              <a:t>•  Diagnose alarm conditions,</a:t>
            </a:r>
          </a:p>
          <a:p>
            <a:pPr algn="l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1F2937"/>
                </a:solidFill>
                <a:latin typeface="Avenir"/>
              </a:defRPr>
            </a:pPr>
            <a:r>
              <a:t>•  error states, and</a:t>
            </a:r>
          </a:p>
          <a:p>
            <a:pPr algn="l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1F2937"/>
                </a:solidFill>
                <a:latin typeface="Avenir"/>
              </a:defRPr>
            </a:pPr>
            <a:r>
              <a:t>•  latched fault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2011680"/>
            <a:ext cx="26060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64039" y="2286000"/>
            <a:ext cx="640080" cy="64008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200" b="1">
                <a:solidFill>
                  <a:srgbClr val="FFFFFF"/>
                </a:solidFill>
              </a:defRPr>
            </a:pPr>
            <a:r>
              <a:t>BP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39" y="3063240"/>
            <a:ext cx="2057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Best Practices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39" y="3429000"/>
            <a:ext cx="2057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1F2937"/>
                </a:solidFill>
                <a:latin typeface="Avenir"/>
              </a:defRPr>
            </a:pPr>
            <a:r>
              <a:t>•  Programming standards,</a:t>
            </a:r>
          </a:p>
          <a:p>
            <a:pPr algn="l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1F2937"/>
                </a:solidFill>
                <a:latin typeface="Avenir"/>
              </a:defRPr>
            </a:pPr>
            <a:r>
              <a:t>•  optimization guidance,</a:t>
            </a:r>
          </a:p>
          <a:p>
            <a:pPr algn="l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1F2937"/>
                </a:solidFill>
                <a:latin typeface="Avenir"/>
              </a:defRPr>
            </a:pPr>
            <a:r>
              <a:t>•  and technician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B7280"/>
                </a:solidFill>
                <a:latin typeface="Avenir"/>
              </a:defRPr>
            </a:pPr>
            <a:r>
              <a:t>These skills are powerful — but they operate on static data.</a:t>
            </a:r>
            <a:br/>
            <a:r>
              <a:t>BLUE can only analyze what is manually provided.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What BLUE Cannot See — Yet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258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3A8A"/>
                </a:solidFill>
                <a:latin typeface="Montserrat"/>
              </a:defRPr>
            </a:pPr>
            <a:r>
              <a:t>Real-time access to actual PLC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4592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Avenir"/>
              </a:defRPr>
            </a:pPr>
            <a:r>
              <a:t>No live sensor readings, valve positions, or actuator states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3A8A"/>
                </a:solidFill>
                <a:latin typeface="Montserrat"/>
              </a:defRPr>
            </a:pPr>
            <a:r>
              <a:t>Live point values and setpoints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Avenir"/>
              </a:defRPr>
            </a:pPr>
            <a:r>
              <a:t>Cannot see what the controller is targeting right 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3375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3A8A"/>
                </a:solidFill>
                <a:latin typeface="Montserrat"/>
              </a:defRPr>
            </a:pPr>
            <a:r>
              <a:t>Historical trending from controllers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5760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Avenir"/>
              </a:defRPr>
            </a:pPr>
            <a:r>
              <a:t>Must rely on Grafana exports instead of direct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389120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34340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3A8A"/>
                </a:solidFill>
                <a:latin typeface="Montserrat"/>
              </a:defRPr>
            </a:pPr>
            <a:r>
              <a:t>Verification of controller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6634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Avenir"/>
              </a:defRPr>
            </a:pPr>
            <a:r>
              <a:t>Cannot compare actual vs. expected execution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394960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49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3A8A"/>
                </a:solidFill>
                <a:latin typeface="Montserrat"/>
              </a:defRPr>
            </a:pPr>
            <a:r>
              <a:t>Direct visibility into logic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6692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Avenir"/>
              </a:defRPr>
            </a:pPr>
            <a:r>
              <a:t>Blind to what the PLC is actually doing in real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5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Six Capabilities the API Unlocks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74720" cy="2011680"/>
          </a:xfrm>
          <a:prstGeom prst="roundRect">
            <a:avLst/>
          </a:prstGeom>
          <a:solidFill>
            <a:srgbClr val="16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Real-Time 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3F4F6"/>
                </a:solidFill>
                <a:latin typeface="Avenir"/>
              </a:defRPr>
            </a:pPr>
            <a:r>
              <a:t>Query PLCs directly for live status and sensor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2011680"/>
          </a:xfrm>
          <a:prstGeom prst="roundRect">
            <a:avLst/>
          </a:prstGeom>
          <a:solidFill>
            <a:srgbClr val="16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2011680"/>
            <a:ext cx="502920" cy="50292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Automated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3F4F6"/>
                </a:solidFill>
                <a:latin typeface="Avenir"/>
              </a:defRPr>
            </a:pPr>
            <a:r>
              <a:t>24/7 fleet polling with automatic anomaly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474720" cy="2011680"/>
          </a:xfrm>
          <a:prstGeom prst="roundRect">
            <a:avLst/>
          </a:prstGeom>
          <a:solidFill>
            <a:srgbClr val="16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0" y="2011680"/>
            <a:ext cx="502920" cy="50292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5176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Remote Troubleshooting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3F4F6"/>
                </a:solidFill>
                <a:latin typeface="Avenir"/>
              </a:defRPr>
            </a:pPr>
            <a:r>
              <a:t>Guide technicians with live PLC state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3474720" cy="2011680"/>
          </a:xfrm>
          <a:prstGeom prst="roundRect">
            <a:avLst/>
          </a:prstGeom>
          <a:solidFill>
            <a:srgbClr val="16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Predictive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3F4F6"/>
                </a:solidFill>
                <a:latin typeface="Avenir"/>
              </a:defRPr>
            </a:pPr>
            <a:r>
              <a:t>Detect patterns that precede failures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206240"/>
            <a:ext cx="3474720" cy="2011680"/>
          </a:xfrm>
          <a:prstGeom prst="roundRect">
            <a:avLst/>
          </a:prstGeom>
          <a:solidFill>
            <a:srgbClr val="16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72000" y="4389120"/>
            <a:ext cx="502920" cy="50292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0292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Control 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48640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3F4F6"/>
                </a:solidFill>
                <a:latin typeface="Avenir"/>
              </a:defRPr>
            </a:pPr>
            <a:r>
              <a:t>Analyze and improve actual control performance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206240"/>
            <a:ext cx="3474720" cy="2011680"/>
          </a:xfrm>
          <a:prstGeom prst="roundRect">
            <a:avLst/>
          </a:prstGeom>
          <a:solidFill>
            <a:srgbClr val="16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0" y="4389120"/>
            <a:ext cx="502920" cy="50292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02920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Verification &amp;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48640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3F4F6"/>
                </a:solidFill>
                <a:latin typeface="Avenir"/>
              </a:defRPr>
            </a:pPr>
            <a:r>
              <a:t>Confirm repairs and setpoint changes objectively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01  Real-Time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Avenir"/>
              </a:defRPr>
            </a:pPr>
            <a:r>
              <a:t>Instead of saying "check if the regenerator is running," BLUE could tell you exactly what is happening.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0698480" cy="1234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Query PLC Directly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560320"/>
            <a:ext cx="9601200" cy="365760"/>
          </a:xfrm>
          <a:prstGeom prst="roundRect">
            <a:avLst/>
          </a:prstGeom>
          <a:solidFill>
            <a:srgbClr val="E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5603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3A8A"/>
                </a:solidFill>
                <a:latin typeface="Avenir"/>
              </a:defRPr>
            </a:pPr>
            <a:r>
              <a:t>"Regenerator status is OFF, last cycle completed 47 minutes ago"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Avenir"/>
              </a:defRPr>
            </a:pPr>
            <a:r>
              <a:t>Instant, definitive answers instead of guesswork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698480" cy="1234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Live Sensor Readings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023360"/>
            <a:ext cx="9601200" cy="365760"/>
          </a:xfrm>
          <a:prstGeom prst="roundRect">
            <a:avLst/>
          </a:prstGeom>
          <a:solidFill>
            <a:srgbClr val="E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023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3A8A"/>
                </a:solidFill>
                <a:latin typeface="Avenir"/>
              </a:defRPr>
            </a:pPr>
            <a:r>
              <a:t>See exactly what every sensor is reading right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348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Avenir"/>
              </a:defRPr>
            </a:pPr>
            <a:r>
              <a:t>Temperature, pressure, flow, concentration — all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698480" cy="1234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2064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Instant Failure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486400"/>
            <a:ext cx="9601200" cy="365760"/>
          </a:xfrm>
          <a:prstGeom prst="roundRect">
            <a:avLst/>
          </a:prstGeom>
          <a:solidFill>
            <a:srgbClr val="E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486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3A8A"/>
                </a:solidFill>
                <a:latin typeface="Avenir"/>
              </a:defRPr>
            </a:pPr>
            <a:r>
              <a:t>Identify stuck values, out-of-range readings, sensor failures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8978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Avenir"/>
              </a:defRPr>
            </a:pPr>
            <a:r>
              <a:t>Catch problems the moment they occur, not hours later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02  Automated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F2937"/>
                </a:solidFill>
                <a:latin typeface="Avenir"/>
              </a:defRPr>
            </a:pPr>
            <a:r>
              <a:t>Autonomous agents that watch the fleet around the clock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4747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00BFFF"/>
                </a:solidFill>
                <a:latin typeface="Montserrat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0"/>
                </a:solidFill>
                <a:latin typeface="Avenir"/>
              </a:defRPr>
            </a:pPr>
            <a:r>
              <a:t>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3A8A"/>
                </a:solidFill>
                <a:latin typeface="Montserrat"/>
              </a:defRPr>
            </a:pPr>
            <a:r>
              <a:t>Polling Interval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4114800"/>
            <a:ext cx="1280160" cy="2743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29260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Avenir"/>
              </a:defRPr>
            </a:pPr>
            <a:r>
              <a:t>Every deployed unit queried automatically, continuously building a real-time picture of fleet 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03120"/>
            <a:ext cx="34747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37744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00BFFF"/>
                </a:solidFill>
                <a:latin typeface="Montserrat"/>
              </a:defRPr>
            </a:pPr>
            <a:r>
              <a:t>24/7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576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3A8A"/>
                </a:solidFill>
                <a:latin typeface="Montserrat"/>
              </a:defRPr>
            </a:pPr>
            <a:r>
              <a:t>Coverage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4114800"/>
            <a:ext cx="1280160" cy="2743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389120"/>
            <a:ext cx="29260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Avenir"/>
              </a:defRPr>
            </a:pPr>
            <a:r>
              <a:t>No weekends, no holidays, no fatigue — BLUE monitors every unit without interruption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103120"/>
            <a:ext cx="3474720" cy="3840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37744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00BFFF"/>
                </a:solidFill>
                <a:latin typeface="Montserrat"/>
              </a:defRPr>
            </a:pPr>
            <a:r>
              <a:t>&lt;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004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0"/>
                </a:solidFill>
                <a:latin typeface="Avenir"/>
              </a:defRPr>
            </a:pPr>
            <a:r>
              <a:t>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6576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3A8A"/>
                </a:solidFill>
                <a:latin typeface="Montserrat"/>
              </a:defRPr>
            </a:pPr>
            <a:r>
              <a:t>Alert 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4114800"/>
            <a:ext cx="1280160" cy="2743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4389120"/>
            <a:ext cx="29260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Avenir"/>
              </a:defRPr>
            </a:pPr>
            <a:r>
              <a:t>Detect control logic failures, setpoint drift, and overrides before they impact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03  Remote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8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Avenir"/>
              </a:defRPr>
            </a:pPr>
            <a:r>
              <a:t>When a technician calls with an issue, BLUE provides real-time intelligence — not guesswork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65176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20" y="2514600"/>
            <a:ext cx="731520" cy="7315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Pull Up PLC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Instantly retrieve the exact</a:t>
            </a:r>
            <a:br/>
            <a:r>
              <a:t>controller state in real time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00400" y="3657600"/>
            <a:ext cx="228600" cy="274320"/>
          </a:xfrm>
          <a:prstGeom prst="rightArrow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2286000"/>
            <a:ext cx="265176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43400" y="2514600"/>
            <a:ext cx="731520" cy="7315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Analyze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93192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See what the controller thinks</a:t>
            </a:r>
            <a:br/>
            <a:r>
              <a:t>is happening vs. reality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26480" y="3657600"/>
            <a:ext cx="228600" cy="274320"/>
          </a:xfrm>
          <a:prstGeom prst="rightArrow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286000"/>
            <a:ext cx="265176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69480" y="2514600"/>
            <a:ext cx="731520" cy="7315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Identify Root Cause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3192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Pinpoint logic errors or sensor</a:t>
            </a:r>
            <a:br/>
            <a:r>
              <a:t>problems immediately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052560" y="3657600"/>
            <a:ext cx="228600" cy="274320"/>
          </a:xfrm>
          <a:prstGeom prst="rightArrow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35440" y="2286000"/>
            <a:ext cx="265176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95560" y="2514600"/>
            <a:ext cx="731520" cy="7315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383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Guide the 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93192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Provide step-by-step guidance</a:t>
            </a:r>
            <a:br/>
            <a:r>
              <a:t>backed by live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B981"/>
                </a:solidFill>
                <a:latin typeface="Montserrat"/>
              </a:defRPr>
            </a:pPr>
            <a:r>
              <a:t>Result: Faster resolution, fewer truck rolls, higher first-time fix rates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04  Predictive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F2937"/>
                </a:solidFill>
                <a:latin typeface="Avenir"/>
              </a:defRPr>
            </a:pPr>
            <a:r>
              <a:t>Move from reactive service to predictive fleet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265176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265176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Control Stability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21945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Track excessive cycling and hunting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Detect oscillating PID loops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Identify control instability early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65176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103120"/>
            <a:ext cx="265176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Failure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26080"/>
            <a:ext cx="21945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Recognize patterns that precede failures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Alert before equipment breaks down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Reduce unplanned downtime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103120"/>
            <a:ext cx="265176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103120"/>
            <a:ext cx="265176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3774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PID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21945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Detect poorly tuned loops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Recommend tuning adjustments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Based on actual real-world behavior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103120"/>
            <a:ext cx="265176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2103120"/>
            <a:ext cx="265176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23774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8A"/>
                </a:solidFill>
                <a:latin typeface="Montserrat"/>
              </a:defRPr>
            </a:pPr>
            <a:r>
              <a:t>Comm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926080"/>
            <a:ext cx="219456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Monitor controller communication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Detect network degradation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Track response times and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05  Control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10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37360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3A8A"/>
                </a:solidFill>
                <a:latin typeface="Montserrat"/>
              </a:defRPr>
            </a:pPr>
            <a:r>
              <a:t>Performance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86000"/>
            <a:ext cx="4023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F2937"/>
                </a:solidFill>
                <a:latin typeface="Avenir"/>
              </a:defRPr>
            </a:pPr>
            <a:r>
              <a:t>Compare actual control performance against optimal sequences to identify gaps and inefficiencies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63040"/>
            <a:ext cx="539496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79" y="1737360"/>
            <a:ext cx="548640" cy="54864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39" y="1737360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3A8A"/>
                </a:solidFill>
                <a:latin typeface="Montserrat"/>
              </a:defRPr>
            </a:pPr>
            <a:r>
              <a:t>PID Tuning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39" y="2286000"/>
            <a:ext cx="4023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F2937"/>
                </a:solidFill>
                <a:latin typeface="Avenir"/>
              </a:defRPr>
            </a:pPr>
            <a:r>
              <a:t>Suggest tuning adjustments based on real behavior patterns observed across the fleet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39496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97680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3A8A"/>
                </a:solidFill>
                <a:latin typeface="Montserrat"/>
              </a:defRPr>
            </a:pPr>
            <a:r>
              <a:t>Strategy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846320"/>
            <a:ext cx="4023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F2937"/>
                </a:solidFill>
                <a:latin typeface="Avenir"/>
              </a:defRPr>
            </a:pPr>
            <a:r>
              <a:t>Identify inefficient control strategies and recommend improvements backed by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4023360"/>
            <a:ext cx="539496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79" y="4297680"/>
            <a:ext cx="548640" cy="54864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39" y="4297680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3A8A"/>
                </a:solidFill>
                <a:latin typeface="Montserrat"/>
              </a:defRPr>
            </a:pPr>
            <a:r>
              <a:t>Fleet-Wide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39" y="4846320"/>
            <a:ext cx="4023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F2937"/>
                </a:solidFill>
                <a:latin typeface="Avenir"/>
              </a:defRPr>
            </a:pPr>
            <a:r>
              <a:t>Leverage data from every deployed unit to optimize logic for the entire fleet simultaneously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06  Verification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F2937"/>
                </a:solidFill>
                <a:latin typeface="Avenir"/>
              </a:defRPr>
            </a:pPr>
            <a:r>
              <a:t>Objective, data-driven confirmation that work was done correctly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8483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3A8A"/>
                </a:solidFill>
                <a:latin typeface="Montserrat"/>
              </a:defRPr>
            </a:pPr>
            <a:r>
              <a:t>Verify Repairs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231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F2937"/>
                </a:solidFill>
                <a:latin typeface="Avenir"/>
              </a:defRPr>
            </a:pPr>
            <a:r>
              <a:t>Check actual PLC response after service work to confirm the fix holds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2004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18211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3A8A"/>
                </a:solidFill>
                <a:latin typeface="Montserrat"/>
              </a:defRPr>
            </a:pPr>
            <a:r>
              <a:t>Confirm Setpoints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5204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F2937"/>
                </a:solidFill>
                <a:latin typeface="Avenir"/>
              </a:defRPr>
            </a:pPr>
            <a:r>
              <a:t>Validate that setpoint changes took effect and are being maintained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97679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79391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3A8A"/>
                </a:solidFill>
                <a:latin typeface="Montserrat"/>
              </a:defRPr>
            </a:pPr>
            <a:r>
              <a:t>Validate Sequences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17719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F2937"/>
                </a:solidFill>
                <a:latin typeface="Avenir"/>
              </a:defRPr>
            </a:pPr>
            <a:r>
              <a:t>Ensure control sequences execute correctly through full cycles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376671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3A8A"/>
                </a:solidFill>
                <a:latin typeface="Montserrat"/>
              </a:defRPr>
            </a:pPr>
            <a:r>
              <a:t>Job Complete" Confirmation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714999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F2937"/>
                </a:solidFill>
                <a:latin typeface="Avenir"/>
              </a:defRPr>
            </a:pPr>
            <a:r>
              <a:t>Provide objective, data-backed proof that the job is done right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Integration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12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5760720" cy="8229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23444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Blue Frontier Fleet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00200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DDDFF"/>
                </a:solidFill>
                <a:latin typeface="Avenir"/>
              </a:defRPr>
            </a:pPr>
            <a:r>
              <a:t>All deployed LD-DOAS units in the field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2011680"/>
            <a:ext cx="320040" cy="274320"/>
          </a:xfrm>
          <a:prstGeom prst="downArrow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2286000"/>
            <a:ext cx="5760720" cy="822960"/>
          </a:xfrm>
          <a:prstGeom prst="round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33172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Distech PLCs (API Endpoints)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97480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DDDFF"/>
                </a:solidFill>
                <a:latin typeface="Avenir"/>
              </a:defRPr>
            </a:pPr>
            <a:r>
              <a:t>ECY-600 controllers exposing RESTful API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3108960"/>
            <a:ext cx="320040" cy="274320"/>
          </a:xfrm>
          <a:prstGeom prst="downArrow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3383280"/>
            <a:ext cx="5760720" cy="822960"/>
          </a:xfrm>
          <a:prstGeom prst="roundRect">
            <a:avLst/>
          </a:prstGeom>
          <a:solidFill>
            <a:srgbClr val="16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342900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BLUE Monitoring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794760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DDDFF"/>
                </a:solidFill>
                <a:latin typeface="Avenir"/>
              </a:defRPr>
            </a:pPr>
            <a:r>
              <a:t>Autonomous polling every 15 minutes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3600" y="4206240"/>
            <a:ext cx="320040" cy="274320"/>
          </a:xfrm>
          <a:prstGeom prst="downArrow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0" y="4480559"/>
            <a:ext cx="576072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4526279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Data Analysis &amp; Pattern Recognition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892039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DDDFF"/>
                </a:solidFill>
                <a:latin typeface="Avenir"/>
              </a:defRPr>
            </a:pPr>
            <a:r>
              <a:t>Anomaly detection, trending, fleet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754880"/>
            <a:ext cx="5760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3A8A"/>
                </a:solidFill>
                <a:latin typeface="Montserrat"/>
              </a:defRPr>
            </a:pPr>
            <a:r>
              <a:t>Automated 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5166360"/>
            <a:ext cx="182880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2120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venir"/>
              </a:defRPr>
            </a:pPr>
            <a:r>
              <a:t>Alert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5166360"/>
            <a:ext cx="182880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19" y="52120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venir"/>
              </a:defRPr>
            </a:pPr>
            <a:r>
              <a:t>ClickUp Tickets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166360"/>
            <a:ext cx="18288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2120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venir"/>
              </a:defRPr>
            </a:pPr>
            <a:r>
              <a:t>Trend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19" y="5166360"/>
            <a:ext cx="1828800" cy="594360"/>
          </a:xfrm>
          <a:prstGeom prst="round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59" y="52120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venir"/>
              </a:defRPr>
            </a:pPr>
            <a:r>
              <a:t>Performance Reports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What BLUE Needs to Get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13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4475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API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Endpoint URLs and authentication methods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Available data points and their formats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Read/write capabilities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Polling rate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71600"/>
            <a:ext cx="539496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371600"/>
            <a:ext cx="539496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44475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011680"/>
            <a:ext cx="48463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Example API responses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Point naming conventions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Units of measurement for each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39496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539496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0507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Access Credentials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48463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Authentication method (API keys, OAuth, etc.)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Per-unit vs. shared credentials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Security token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931920"/>
            <a:ext cx="5394960" cy="2286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931920"/>
            <a:ext cx="539496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400507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Network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572000"/>
            <a:ext cx="48463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Connection method (direct, VPN, gateway)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Firewall / security considerations</a:t>
            </a:r>
          </a:p>
          <a:p>
            <a:pPr algn="l">
              <a:lnSpc>
                <a:spcPts val="182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Latency expectations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Implementation Roadmap — Day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14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474720" cy="12801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DDDFF"/>
                </a:solidFill>
                <a:latin typeface="Avenir"/>
              </a:defRPr>
            </a:pPr>
            <a:r>
              <a:t>Phase 1  |  Morning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API Connection</a:t>
            </a:r>
            <a:br/>
            <a:r>
              <a:t>&amp;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347472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29260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Authenticate and connect to first PLC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Map all available data points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Verify data quality and refresh rates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Test read capabilities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23360" y="1828800"/>
            <a:ext cx="22860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474720" cy="1280160"/>
          </a:xfrm>
          <a:prstGeom prst="round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630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DDDFF"/>
                </a:solidFill>
                <a:latin typeface="Avenir"/>
              </a:defRPr>
            </a:pPr>
            <a:r>
              <a:t>Phase 2  |  Midday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830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Monitoring</a:t>
            </a:r>
            <a:br/>
            <a:r>
              <a:t>Agent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834640"/>
            <a:ext cx="347472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017520"/>
            <a:ext cx="29260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Build autonomous polling agent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Set up data storage and trending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Create alert conditions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Test on 1-2 pilot units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3840" y="1828800"/>
            <a:ext cx="22860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474720" cy="12801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630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DDDFF"/>
                </a:solidFill>
                <a:latin typeface="Avenir"/>
              </a:defRPr>
            </a:pPr>
            <a:r>
              <a:t>Phase 3  |  Afternoon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7830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Integration</a:t>
            </a:r>
            <a:br/>
            <a:r>
              <a:t>&amp; Deployment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834640"/>
            <a:ext cx="347472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017520"/>
            <a:ext cx="29260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Connect to ClickUp for auto-ticketing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Deploy across fleet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Establish baseline metrics</a:t>
            </a:r>
          </a:p>
          <a:p>
            <a:pPr algn="l"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Avenir"/>
              </a:defRPr>
            </a:pPr>
            <a:r>
              <a:t>•  Begin 24/7 monitoring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20095" y="635508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Avenir"/>
              </a:defRPr>
            </a:pPr>
            <a:r>
              <a:t>15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Day One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BFFF"/>
                </a:solidFill>
                <a:latin typeface="Avenir"/>
              </a:defRPr>
            </a:pPr>
            <a:r>
              <a:t>By end of day, BLUE will have: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194560"/>
            <a:ext cx="8503920" cy="822960"/>
          </a:xfrm>
          <a:prstGeom prst="roundRect">
            <a:avLst/>
          </a:prstGeom>
          <a:solidFill>
            <a:srgbClr val="16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2331720"/>
            <a:ext cx="548640" cy="54864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331720"/>
            <a:ext cx="7132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Live connection to at least one deployed unit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246120"/>
            <a:ext cx="8503920" cy="822960"/>
          </a:xfrm>
          <a:prstGeom prst="roundRect">
            <a:avLst/>
          </a:prstGeom>
          <a:solidFill>
            <a:srgbClr val="16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03120" y="3383280"/>
            <a:ext cx="548640" cy="54864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383280"/>
            <a:ext cx="7132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Real-time dashboard showing actual PLC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97679"/>
            <a:ext cx="8503920" cy="822960"/>
          </a:xfrm>
          <a:prstGeom prst="roundRect">
            <a:avLst/>
          </a:prstGeom>
          <a:solidFill>
            <a:srgbClr val="16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03120" y="4434839"/>
            <a:ext cx="548640" cy="54864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434839"/>
            <a:ext cx="7132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At least one automated alert working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349240"/>
            <a:ext cx="8503920" cy="822960"/>
          </a:xfrm>
          <a:prstGeom prst="roundRect">
            <a:avLst/>
          </a:prstGeom>
          <a:solidFill>
            <a:srgbClr val="16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03120" y="5486400"/>
            <a:ext cx="548640" cy="54864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486400"/>
            <a:ext cx="7132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Proof of concept for autonomous fleet monitoring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Montserrat"/>
              </a:defRPr>
            </a:pPr>
            <a:r>
              <a:t>Let's Give BLUE Eyes on the Fleet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560320"/>
            <a:ext cx="210312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4F6"/>
                </a:solidFill>
                <a:latin typeface="Avenir"/>
              </a:defRPr>
            </a:pPr>
            <a:r>
              <a:t>The difference is like having a technician who can look at documentation</a:t>
            </a:r>
            <a:br/>
            <a:r>
              <a:t>versus a technician who can actually see what the equipment is doing.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BFFF"/>
                </a:solidFill>
                <a:latin typeface="Montserrat"/>
              </a:defRPr>
            </a:pPr>
            <a:r>
              <a:t>Share the API documentation. Let's build this integration.</a:t>
            </a:r>
          </a:p>
        </p:txBody>
      </p:sp>
      <p:pic>
        <p:nvPicPr>
          <p:cNvPr id="7" name="Picture 6" descr="BF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5303520"/>
            <a:ext cx="2651760" cy="9029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